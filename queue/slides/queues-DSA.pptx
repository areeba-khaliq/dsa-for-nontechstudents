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71" r:id="rId12"/>
    <p:sldId id="276" r:id="rId13"/>
    <p:sldId id="266" r:id="rId14"/>
    <p:sldId id="277" r:id="rId15"/>
    <p:sldId id="267" r:id="rId16"/>
    <p:sldId id="268" r:id="rId17"/>
    <p:sldId id="272" r:id="rId18"/>
    <p:sldId id="280" r:id="rId19"/>
    <p:sldId id="28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0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DATA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Queues: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In, First Out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scientists, printers, and bank tellers all solve the same problem — keeping order fair when things arrive faster than they can be handled.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40080" y="4617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44752" y="4617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4752" y="4617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9424" y="4617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9424" y="4617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54096" y="4617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54096" y="4617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58768" y="4617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58768" y="4617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4306824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9893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STUDENTS OF THE NATURAL SCIENCES  ·  NO CODING BACKGROUND ASSUMED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 you can…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84778" cy="1417320"/>
          </a:xfrm>
          <a:prstGeom prst="roundRect">
            <a:avLst>
              <a:gd name="adj" fmla="val 387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5681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DEFINE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67712"/>
            <a:ext cx="315559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First In, First Out (FIFO) and why order matters.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3458" y="1828800"/>
            <a:ext cx="3484778" cy="1417320"/>
          </a:xfrm>
          <a:prstGeom prst="roundRect">
            <a:avLst>
              <a:gd name="adj" fmla="val 387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8050" y="195681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OPERATE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18050" y="2267712"/>
            <a:ext cx="315559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keywords: enqueue, dequeue, front, and rear.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6837" y="1828800"/>
            <a:ext cx="3484778" cy="1417320"/>
          </a:xfrm>
          <a:prstGeom prst="roundRect">
            <a:avLst>
              <a:gd name="adj" fmla="val 387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31429" y="195681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BUILD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31429" y="2267712"/>
            <a:ext cx="315559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 circular queue reuses space efficiently.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3484778" cy="1417320"/>
          </a:xfrm>
          <a:prstGeom prst="roundRect">
            <a:avLst>
              <a:gd name="adj" fmla="val 387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60273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SPOT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913632"/>
            <a:ext cx="315559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queues in printers, ticketing systems, and instruments.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53458" y="3474720"/>
            <a:ext cx="3484778" cy="1417320"/>
          </a:xfrm>
          <a:prstGeom prst="roundRect">
            <a:avLst>
              <a:gd name="adj" fmla="val 387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18050" y="360273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SIMULATE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18050" y="3913632"/>
            <a:ext cx="315559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out a queue with priority interruptions, live, as a class.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6837" y="3474720"/>
            <a:ext cx="3484778" cy="1417320"/>
          </a:xfrm>
          <a:prstGeom prst="roundRect">
            <a:avLst>
              <a:gd name="adj" fmla="val 387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31429" y="360273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REASON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31429" y="3913632"/>
            <a:ext cx="315559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Follow, conceptually, how a queue is built from a deque 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79" y="12801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queue a queue?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is a data structure that holds a collection of items and enforces one rule above all others: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36023" y="361188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9592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4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In, First Out — </a:t>
            </a:r>
            <a:r>
              <a:rPr lang="en-US" sz="1600" dirty="0">
                <a:solidFill>
                  <a:srgbClr val="5C5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FIFO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539343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arrives first is served first. Nothing already waiting can be skipped by something newer.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QUEUE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 line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customers walk into a bank, one after another. There's one teller.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536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rear (newest arrivals join here)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187288" y="2331720"/>
            <a:ext cx="536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B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(served next) →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265176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9164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265176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94760" y="265176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97880" y="265176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34086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SERVED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062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arrived first, so A reaches the teller first — no matter how impatient E gets standing at the back.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queue: front &amp; rear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79222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91640" y="210312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94760" y="210312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10312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79222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210312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3840480"/>
            <a:ext cx="53186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4023360"/>
            <a:ext cx="491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389120"/>
            <a:ext cx="49162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that has been waiting longest. It's the only item ever removed.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840480"/>
            <a:ext cx="53186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34176" y="4023360"/>
            <a:ext cx="491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34176" y="4389120"/>
            <a:ext cx="49162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new item joins the line. It's the only place items are added.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</a:t>
            </a: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join the line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sample, ticket, or customer is added at the rear only. Nothing already waiting moves.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18488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18488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68296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68296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23774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enqueue(D)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61608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1608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11416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11416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61224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61224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11032" y="2880360"/>
            <a:ext cx="621792" cy="621792"/>
          </a:xfrm>
          <a:prstGeom prst="roundRect">
            <a:avLst>
              <a:gd name="adj" fmla="val 10294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11032" y="28803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4348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constant time. Adding to the rear doesn't depend on how many are already waiting.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</a:t>
            </a: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leave from the front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item is removed and handed back to you. Only the front item ever actually leaves.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028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23774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1608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dequeue() → returns 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61608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47408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47408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33208" y="28803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33208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4348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dequeue() on an empty queue is an underflow — there's nothing to serve.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core operations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01145"/>
              </p:ext>
            </p:extLst>
          </p:nvPr>
        </p:nvGraphicFramePr>
        <p:xfrm>
          <a:off x="751114" y="1828800"/>
          <a:ext cx="10800501" cy="3291840"/>
        </p:xfrm>
        <a:graphic>
          <a:graphicData uri="http://schemas.openxmlformats.org/drawingml/2006/table">
            <a:tbl>
              <a:tblPr/>
              <a:tblGrid>
                <a:gridCol w="2266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8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8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8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queue?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44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enqueue(x)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item x at the rear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44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&amp; returns the front 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44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at the front item without removing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44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isEmpty()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there are no items waiting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44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how many items are waiting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(FIFO) vs. stack (LIFO)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18608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116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F5D63"/>
          </a:solidFill>
          <a:ln w="6350">
            <a:solidFill>
              <a:srgbClr val="1F44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011680"/>
            <a:ext cx="15544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· FIFO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414016"/>
            <a:ext cx="491627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one in the line is first one served — like the bank 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246120"/>
            <a:ext cx="594360" cy="594360"/>
          </a:xfrm>
          <a:prstGeom prst="roundRect">
            <a:avLst>
              <a:gd name="adj" fmla="val 10769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93522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NEXT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63624" y="3246120"/>
            <a:ext cx="594360" cy="594360"/>
          </a:xfrm>
          <a:prstGeom prst="roundRect">
            <a:avLst>
              <a:gd name="adj" fmla="val 10769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63624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3246120"/>
            <a:ext cx="594360" cy="594360"/>
          </a:xfrm>
          <a:prstGeom prst="roundRect">
            <a:avLst>
              <a:gd name="adj" fmla="val 10769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1828800"/>
            <a:ext cx="5318608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4176" y="20116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4176" y="2011680"/>
            <a:ext cx="15544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LIFO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434176" y="2414016"/>
            <a:ext cx="491627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one in is first one served — like a stack of Petri dishes on a bench.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34176" y="32461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4176" y="3246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← out next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34176" y="37947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3F3F1"/>
          </a:solidFill>
          <a:ln w="12700">
            <a:solidFill>
              <a:srgbClr val="C7C7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4176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34176" y="43434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3F3F1"/>
          </a:solidFill>
          <a:ln w="12700">
            <a:solidFill>
              <a:srgbClr val="C7C7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4176" y="4343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AT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Printers: one line, many documents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three documents to a shared lab printer and it doesn't guess which matters more — it queues them.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0208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NOW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23317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3.pdf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3317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2336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print job is enqueued the moment you hit “print,” in the order jobs arrive.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 dequeues one job at a time, finishing each before starting the next.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classmate who hit print two minutes before you gets their pages first — even from a different laptop.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AT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Ticketing &amp; booking systems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“take a number” dispenser at a registrar's office and a queue of e-ticket purchases both run on the same idea.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697480"/>
            <a:ext cx="491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47 is 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63240"/>
            <a:ext cx="49162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enqueue when you pull a ticket. You dequeue when your number is called — no cutting in line, no losing your place.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51460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4176" y="2697480"/>
            <a:ext cx="491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Concert or lab-slot sign-ups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063240"/>
            <a:ext cx="49162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demand exceeds supply, the system processes requests strictly in the order they were submitted.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PYTHON · CONCEPT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plain list struggles as a queue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ordinary list can act like a queue — add items to one end, remove from the other — but removing from the front of a list means every remaining item has to shift down one position, just like Option 1 a few slides back.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911535" cy="1737360"/>
          </a:xfrm>
          <a:prstGeom prst="roundRect">
            <a:avLst>
              <a:gd name="adj" fmla="val 4211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566160"/>
            <a:ext cx="103628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items waiting, the more shifting happens on every single dequeue. For a queue that stays small this barely matters — but it doesn't scale, which is exactly the problem a deque (“deck”, short for double-ended queue) is designed to avoid.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cost of a simple queue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store a queue in a plain fixed row of memory slots, dequeuing from the front creates a problem: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51460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514600"/>
            <a:ext cx="1133856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916936"/>
            <a:ext cx="491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everyone forward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282696"/>
            <a:ext cx="491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item slides one slot left. Correct, but slower the more items are waiting.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3008" y="2331720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  <a:effectLst>
            <a:outerShdw blurRad="1016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4176" y="251460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4176" y="2514600"/>
            <a:ext cx="1133856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34176" y="2916936"/>
            <a:ext cx="491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a gap behind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3282696"/>
            <a:ext cx="491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move the front pointer forward. Fast, but the used slots at the start go to waste.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911535" cy="1691640"/>
          </a:xfrm>
          <a:prstGeom prst="roundRect">
            <a:avLst>
              <a:gd name="adj" fmla="val 4324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1440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09344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609344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04288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04288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99232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99232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94176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94176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084064" y="434340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3F3F1"/>
          </a:solidFill>
          <a:ln w="15875">
            <a:solidFill>
              <a:srgbClr val="C7C7C4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two dequeues without shifting: two wasted slots at the front, even though the queue still has room.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PYTHON · CONCEPT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queue, built from a deque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collections module provides a deque: a sequence that supports adding and removing from both ends, each in constant time. A queue is simply a deque used one-directionally: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484778" cy="137160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87121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enqueue(x)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82112"/>
            <a:ext cx="315559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 to the right end of the deque.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3458" y="2743200"/>
            <a:ext cx="3484778" cy="137160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8050" y="287121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18050" y="3182112"/>
            <a:ext cx="315559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and return the item from the left end of the deque.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6837" y="2743200"/>
            <a:ext cx="3484778" cy="137160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31429" y="2871216"/>
            <a:ext cx="3155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31429" y="3182112"/>
            <a:ext cx="315559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leftmost item without removing it.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deque tracks both ends directly, there is no shifting — dequeuing from the left is just as fast as adding to the right, no matter how full the queue is.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queues: reuse the line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treats the row of slots as a ring: once the rear reaches the last slot, the next item wraps around to slot zero — reclaiming space the front already vacated.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600200" y="3108960"/>
            <a:ext cx="2468880" cy="2468880"/>
          </a:xfrm>
          <a:prstGeom prst="ellipse">
            <a:avLst/>
          </a:prstGeom>
          <a:ln w="15875">
            <a:solidFill>
              <a:srgbClr val="C7C7C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542032" y="2816352"/>
            <a:ext cx="585216" cy="585216"/>
          </a:xfrm>
          <a:prstGeom prst="ellipse">
            <a:avLst/>
          </a:prstGeom>
          <a:solidFill>
            <a:srgbClr val="2F5D63"/>
          </a:solidFill>
          <a:ln w="12700">
            <a:solidFill>
              <a:srgbClr val="1F44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28163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16054" y="3669329"/>
            <a:ext cx="585216" cy="585216"/>
          </a:xfrm>
          <a:prstGeom prst="ellipse">
            <a:avLst/>
          </a:prstGeom>
          <a:solidFill>
            <a:srgbClr val="2F5D63"/>
          </a:solidFill>
          <a:ln w="12700">
            <a:solidFill>
              <a:srgbClr val="1F44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16054" y="3669329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7618" y="5049475"/>
            <a:ext cx="585216" cy="585216"/>
          </a:xfrm>
          <a:prstGeom prst="ellipse">
            <a:avLst/>
          </a:prstGeom>
          <a:solidFill>
            <a:srgbClr val="F3F3F1"/>
          </a:solidFill>
          <a:ln w="12700">
            <a:solidFill>
              <a:srgbClr val="C7C7C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267618" y="5049475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16446" y="5049475"/>
            <a:ext cx="585216" cy="585216"/>
          </a:xfrm>
          <a:prstGeom prst="ellipse">
            <a:avLst/>
          </a:prstGeom>
          <a:solidFill>
            <a:srgbClr val="F3F3F1"/>
          </a:solidFill>
          <a:ln w="12700">
            <a:solidFill>
              <a:srgbClr val="C7C7C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1816446" y="5049475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68010" y="3669329"/>
            <a:ext cx="585216" cy="58521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68010" y="3669329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069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→ C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B8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 → E (wrapped)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063240"/>
            <a:ext cx="643097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freed by earlier dequeues (shown dotted) sit unused — until the rear wraps around and reuses them.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is tracked with index = (index + 1) mod capacity — arithmetic, not physical shifting.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total capacity, but no wasted space and no costly shifting.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queue, step by step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4-slot circular queue, indices 0–3. Watch the rear wrap around after slot 3.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9184" cy="329184"/>
          </a:xfrm>
          <a:prstGeom prst="ellipse">
            <a:avLst/>
          </a:prstGeom>
          <a:solidFill>
            <a:srgbClr val="2F5D63"/>
          </a:solidFill>
          <a:ln w="6350">
            <a:solidFill>
              <a:srgbClr val="1F44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04288"/>
            <a:ext cx="1043604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enqueue(A), enqueue(B), enqueue(C) —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slots 0, 1, 2. Rear is now at 2.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329184" cy="329184"/>
          </a:xfrm>
          <a:prstGeom prst="ellipse">
            <a:avLst/>
          </a:prstGeom>
          <a:solidFill>
            <a:srgbClr val="2F5D63"/>
          </a:solidFill>
          <a:ln w="6350">
            <a:solidFill>
              <a:srgbClr val="1F44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218688"/>
            <a:ext cx="1043604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 → returns A —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0 is now free, front moves to slot 1 (B).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329184" cy="329184"/>
          </a:xfrm>
          <a:prstGeom prst="ellipse">
            <a:avLst/>
          </a:prstGeom>
          <a:solidFill>
            <a:srgbClr val="2F5D63"/>
          </a:solidFill>
          <a:ln w="6350">
            <a:solidFill>
              <a:srgbClr val="1F44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60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133088"/>
            <a:ext cx="1043604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enqueue(D) —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slot 3, the last physical slot. Rear is now at 3.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329184" cy="329184"/>
          </a:xfrm>
          <a:prstGeom prst="ellipse">
            <a:avLst/>
          </a:prstGeom>
          <a:solidFill>
            <a:srgbClr val="2F5D63"/>
          </a:solidFill>
          <a:ln w="6350">
            <a:solidFill>
              <a:srgbClr val="1F44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74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5047488"/>
            <a:ext cx="1043604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enqueue(E) —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 is full, so the rear wraps to slot 0 — the one A left behind. Rear is now at 0.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WRINKLE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order isn't enough: priority queues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strict arrival order breaks down — an urgent print job, an emergency patient, a failing experiment that needs the shared instrument now.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536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FIFO order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187288" y="2606040"/>
            <a:ext cx="536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26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73352" y="29260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73352" y="2926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06624" y="29260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1B1B1B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06624" y="2926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32304" y="26151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9896" y="29260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9896" y="2926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29260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2F5D63"/>
          </a:solidFill>
          <a:ln w="15875">
            <a:solidFill>
              <a:srgbClr val="1F44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2926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434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serves items by an assigned priority level first, and falls back to arrival order (FIFO) only among items of equal priority. We'll act this out next.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Keywords,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56816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FIFO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67712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— the rule a queue enforces.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8256" y="1828800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2848" y="1956816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82848" y="2267712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item at the rear.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6432" y="1828800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1024" y="1956816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61024" y="2267712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item at the front.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74607" y="1828800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39199" y="1956816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/ rear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39199" y="2267712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a queue exposes.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630168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58184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 queue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069080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rear back to slot zero to reuse freed space.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8256" y="3630168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82848" y="3758184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queue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82848" y="4069080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by priority first, FIFO among ties.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6432" y="3630168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61024" y="3758184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61024" y="4069080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you can add to or remove from at either end, in constant time.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74607" y="3630168"/>
            <a:ext cx="2577008" cy="1600200"/>
          </a:xfrm>
          <a:prstGeom prst="roundRect">
            <a:avLst>
              <a:gd name="adj" fmla="val 3429"/>
            </a:avLst>
          </a:prstGeom>
          <a:solidFill>
            <a:srgbClr val="F3F3F1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39199" y="3758184"/>
            <a:ext cx="224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(LIFO)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39199" y="4069080"/>
            <a:ext cx="22478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 — a queue's mirror image.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11535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quick questions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1860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208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31720"/>
            <a:ext cx="49162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holds [A, B, C] with A at the front. After one enqueue(D) and one dequeue(), what does the queue contain, and in what order?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1874520"/>
            <a:ext cx="531860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4176" y="20208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34176" y="2331720"/>
            <a:ext cx="49162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you efficiently dequeue from the front of a plain Python list at large scale? What data structure fixes this?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1860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215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526280"/>
            <a:ext cx="49162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has 5 slots, all full, with the front at index 2. Where does the next enqueued item go once one item is dequeued?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3008" y="4069080"/>
            <a:ext cx="531860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4176" y="4215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34176" y="4526280"/>
            <a:ext cx="49162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real system (not from these slides) that behaves like a priority queue rather than a plain FIFO queue.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1642</Words>
  <Application>Microsoft Office PowerPoint</Application>
  <PresentationFormat>Widescreen</PresentationFormat>
  <Paragraphs>248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AREEBA</cp:lastModifiedBy>
  <cp:revision>5</cp:revision>
  <dcterms:created xsi:type="dcterms:W3CDTF">2026-09-15T12:23:03Z</dcterms:created>
  <dcterms:modified xsi:type="dcterms:W3CDTF">2026-09-15T16:49:10Z</dcterms:modified>
</cp:coreProperties>
</file>