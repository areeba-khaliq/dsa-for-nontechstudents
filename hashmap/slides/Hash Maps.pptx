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3F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2303F"/>
                </a:solidFill>
                <a:latin typeface="Calibri"/>
              </a:rPr>
              <a:t>Typical number of checks to find one entry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Checking one by one</c:v>
                </c:pt>
              </c:strCache>
            </c:strRef>
          </c:tx>
          <c:spPr>
            <a:solidFill>
              <a:srgbClr val="D98C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8262E"/>
                    </a:solidFill>
                    <a:latin typeface="Calibri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 entries</c:v>
                </c:pt>
                <c:pt idx="1">
                  <c:v>100 entries</c:v>
                </c:pt>
                <c:pt idx="2">
                  <c:v>1,000 entries</c:v>
                </c:pt>
                <c:pt idx="3">
                  <c:v>10,000 entries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50</c:v>
                </c:pt>
                <c:pt idx="2">
                  <c:v>500</c:v>
                </c:pt>
                <c:pt idx="3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EB-46F4-9C1D-9ACE60C7D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Hash map lookup</c:v>
                </c:pt>
              </c:strCache>
            </c:strRef>
          </c:tx>
          <c:spPr>
            <a:solidFill>
              <a:srgbClr val="1E5F7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8262E"/>
                    </a:solidFill>
                    <a:latin typeface="Calibri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 entries</c:v>
                </c:pt>
                <c:pt idx="1">
                  <c:v>100 entries</c:v>
                </c:pt>
                <c:pt idx="2">
                  <c:v>1,000 entries</c:v>
                </c:pt>
                <c:pt idx="3">
                  <c:v>10,000 entries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EB-46F4-9C1D-9ACE60C7DA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D6D7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593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 we look at one of the most useful ideas in computing: the hash map. No programming background is assumed. Everything will be explained through a library card catalogue, and we finish with a hands-on exercise counting words in a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ideas plus one exercise. Tell students the exercise at the end is the payoff — they will see the whole idea working on a real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class: how would a librarian do this faster? Lead them toward the idea that the label itself should tell you where to 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on to this picture. Drawer = bucket. The label rule = hash function. The card = the value. Everything in the rest of the session maps back to this cabinet.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check: the key is the name written on the tab of the card; the value is everything printed on the card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slowly. The one sentence to remember: the key is converted into an address, not compared against other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rule is arbitrary but consistent. Real hash functions are cleverer, but they do exactly this job: key in, drawer number out. Because the rule is fixed, searching later lands on the same drawer.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formula is always: convert the key to a number, then squeeze that number into the range of buckets using mod. Division method is what almost every textbook example uses. Multiplication method matters because it lets m be a power of two, which is what real libraries prefer.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Letter values here are simply a=1..z=26 to keep the arithmetic doable. Real implementations use character codes. The takeaway for a non-technical audience: text becomes a number by a fixed recipe, and position is part of the recipe.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DOG = 4+15+7 = 26, and 26 % 5 = 1, so drawer 1. BEE = 2+5+5 = 12, and 12 % 5 = 2, so drawer 2. Let students shout them out. Then ask: with only five drawers and lots of words, what is bound to happen? That leads into collisions.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the two words clearly: hash table is the storage structure, hash map is the key-to-value service it provides. Most people use the terms interchangeably, and that is usually harmless.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Python these are written as d[key] = value, d[key], and del d[key]. Do not dwell on syntax with a non-technical audience — the concept is the goal.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orange bars explode; the teal bars never move. That flat teal line is the whole reason hash maps are everywhere. Note the hash map value is 1 in every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Pigeonhole principle without the jargon: more possible keys than drawers means sharing is guaranteed. Good design keeps drawers small, not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 is the one number that decides hash table performance. Say it plainly: alpha is how many entries share a bucket on average. Keep alpha near 1 and chaining stays fast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is the attempt number: 0 for the first try, 1 for the second, and so on. Python dictionaries use a form of open addressing; Java's HashMap uses chaining. Mention the tombstone problem — it surprises people.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we say lookup is close to O(1) rather than guaranteed O(1). In practice, with sensible design, the worst case almost never shows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the board. Read the sentence aloud one word at a time and let the class call out whether each word is new or a repeat. Ten words, seven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cabinet. Invite questions. A good follow-up exercise: ask students to design a hash function for surnames and predict which drawers would get crowded.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0" y="5138928"/>
            <a:ext cx="786384" cy="786384"/>
          </a:xfrm>
          <a:prstGeom prst="roundRect">
            <a:avLst>
              <a:gd name="adj" fmla="val 13953"/>
            </a:avLst>
          </a:prstGeom>
          <a:solidFill>
            <a:srgbClr val="1B4356"/>
          </a:solidFill>
          <a:ln w="12700">
            <a:solidFill>
              <a:srgbClr val="2655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46520" y="5138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79208" y="5138928"/>
            <a:ext cx="786384" cy="786384"/>
          </a:xfrm>
          <a:prstGeom prst="roundRect">
            <a:avLst>
              <a:gd name="adj" fmla="val 13953"/>
            </a:avLst>
          </a:prstGeom>
          <a:solidFill>
            <a:srgbClr val="1B4356"/>
          </a:solidFill>
          <a:ln w="12700">
            <a:solidFill>
              <a:srgbClr val="2655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79208" y="5138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11896" y="5138928"/>
            <a:ext cx="786384" cy="786384"/>
          </a:xfrm>
          <a:prstGeom prst="roundRect">
            <a:avLst>
              <a:gd name="adj" fmla="val 13953"/>
            </a:avLst>
          </a:prstGeom>
          <a:solidFill>
            <a:srgbClr val="1B4356"/>
          </a:solidFill>
          <a:ln w="12700">
            <a:solidFill>
              <a:srgbClr val="2655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11896" y="5138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44584" y="5138928"/>
            <a:ext cx="786384" cy="786384"/>
          </a:xfrm>
          <a:prstGeom prst="roundRect">
            <a:avLst>
              <a:gd name="adj" fmla="val 13953"/>
            </a:avLst>
          </a:prstGeom>
          <a:solidFill>
            <a:srgbClr val="1B4356"/>
          </a:solidFill>
          <a:ln w="12700">
            <a:solidFill>
              <a:srgbClr val="2655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44584" y="5138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177272" y="5138928"/>
            <a:ext cx="786384" cy="786384"/>
          </a:xfrm>
          <a:prstGeom prst="roundRect">
            <a:avLst>
              <a:gd name="adj" fmla="val 13953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77272" y="5138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109960" y="5138928"/>
            <a:ext cx="786384" cy="786384"/>
          </a:xfrm>
          <a:prstGeom prst="roundRect">
            <a:avLst>
              <a:gd name="adj" fmla="val 13953"/>
            </a:avLst>
          </a:prstGeom>
          <a:solidFill>
            <a:srgbClr val="1B4356"/>
          </a:solidFill>
          <a:ln w="12700">
            <a:solidFill>
              <a:srgbClr val="2655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09960" y="5138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1234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 — NO CODING BACKGROUND NEEDED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002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Maps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6517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Lookup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20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computer finds one item among millions without looking through them all — explained with a library card catalogue.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 ·  Hash functions  ·  Hash tables  ·  Collisions  ·  Load factor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today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272888" cy="1828800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65376"/>
            <a:ext cx="530352" cy="530352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865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865376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and values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87168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has two halves: a label you search with, and the information you actually want.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572768"/>
            <a:ext cx="5272888" cy="1828800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8768" y="1865376"/>
            <a:ext cx="530352" cy="530352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1865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284568" y="1865376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 functions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2487168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h(key) = f(key) mod m, and what a hash table looks like inside.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584448"/>
            <a:ext cx="5272888" cy="1828800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877056"/>
            <a:ext cx="530352" cy="530352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877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877056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498848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keys, one bucket — and the two standard fixes: chaining and open addressing.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78728" y="3584448"/>
            <a:ext cx="5272888" cy="1828800"/>
          </a:xfrm>
          <a:prstGeom prst="roundRect">
            <a:avLst>
              <a:gd name="adj" fmla="val 50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8768" y="3877056"/>
            <a:ext cx="530352" cy="530352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98768" y="38770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84568" y="3877056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lookup is ~O(1)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98768" y="4498848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meaning: the work stays the same whether you store 10 items or 10 million.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62356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806440"/>
            <a:ext cx="411480" cy="411480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623560"/>
            <a:ext cx="9722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count how many times each word appears in a paragraph — using a hash map.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searching one by one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SOMETHING BETTER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box of 1,000 student record cards in no particular order. To find one student, you pick up a card, check the name, and put it back if it is wrong.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you are lucky on the first card. Sometimes it is the very last one. On average you handle half the box.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5486400" cy="1554480"/>
          </a:xfrm>
          <a:prstGeom prst="roundRect">
            <a:avLst>
              <a:gd name="adj" fmla="val 5882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37947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7947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handled, on average, to find one student in a box of 1,000.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records and you double the 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1600200"/>
            <a:ext cx="4846320" cy="438912"/>
          </a:xfrm>
          <a:prstGeom prst="roundRect">
            <a:avLst>
              <a:gd name="adj" fmla="val 1458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31152" y="16002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  — not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148840"/>
            <a:ext cx="4846320" cy="438912"/>
          </a:xfrm>
          <a:prstGeom prst="roundRect">
            <a:avLst>
              <a:gd name="adj" fmla="val 1458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31152" y="21488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  — not 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2697480"/>
            <a:ext cx="4846320" cy="438912"/>
          </a:xfrm>
          <a:prstGeom prst="roundRect">
            <a:avLst>
              <a:gd name="adj" fmla="val 1458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31152" y="269748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3  — not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3246120"/>
            <a:ext cx="4846320" cy="438912"/>
          </a:xfrm>
          <a:prstGeom prst="roundRect">
            <a:avLst>
              <a:gd name="adj" fmla="val 1458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31152" y="32461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4  — not 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794760"/>
            <a:ext cx="4846320" cy="438912"/>
          </a:xfrm>
          <a:prstGeom prst="roundRect">
            <a:avLst>
              <a:gd name="adj" fmla="val 1458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31152" y="37947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5  — not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4343400"/>
            <a:ext cx="4846320" cy="438912"/>
          </a:xfrm>
          <a:prstGeom prst="roundRect">
            <a:avLst>
              <a:gd name="adj" fmla="val 14583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434340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6  — FOUND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4892040"/>
            <a:ext cx="4846320" cy="438912"/>
          </a:xfrm>
          <a:prstGeom prst="roundRect">
            <a:avLst>
              <a:gd name="adj" fmla="val 1458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31152" y="489204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5440680"/>
            <a:ext cx="4846320" cy="438912"/>
          </a:xfrm>
          <a:prstGeom prst="roundRect">
            <a:avLst>
              <a:gd name="adj" fmla="val 1458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31152" y="544068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5989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before the right one is wasted effort.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library card catalogue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FOR EVERYTHING THAT FOLLOWS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75488" y="1481328"/>
            <a:ext cx="5422392" cy="4187952"/>
          </a:xfrm>
          <a:prstGeom prst="roundRect">
            <a:avLst>
              <a:gd name="adj" fmla="val 218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– 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386584" y="16459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86584" y="16459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– F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33088" y="164592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33088" y="16459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– I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980944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80944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 – 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386584" y="2980944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86584" y="2980944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– 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133088" y="2980944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33088" y="2980944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– 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4315968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15968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– U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386584" y="4315968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86584" y="4315968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– X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133088" y="4315968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9D8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33088" y="4315968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– Z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" y="5623560"/>
            <a:ext cx="5422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 "Machine Learning Books"? Go straight to one drawer.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1645920"/>
            <a:ext cx="5608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tells you the exact shelf.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2286000"/>
            <a:ext cx="56080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read every card in the cabinet.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you are searching for decides which drawer to open — before you have looked at anything.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drawer holds only a handful of cards, so the last step is quick.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card is just as fast: the name tells you where it belongs.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43600" y="4663440"/>
            <a:ext cx="5608015" cy="1325880"/>
          </a:xfrm>
          <a:prstGeom prst="roundRect">
            <a:avLst>
              <a:gd name="adj" fmla="val 6897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263640" y="4663440"/>
            <a:ext cx="49679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map is exactly this idea, built out of maths instead of alphabet labels.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and values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HAS TWO HALVES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— what you search with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600200"/>
            <a:ext cx="7253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— what you get back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933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R-104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37560" y="2167128"/>
            <a:ext cx="640080" cy="310896"/>
          </a:xfrm>
          <a:prstGeom prst="rightArrow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993392"/>
            <a:ext cx="7253935" cy="658368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93392"/>
            <a:ext cx="6705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Hadia Noor, BS, Year 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862072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620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R-207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337560" y="3035808"/>
            <a:ext cx="640080" cy="310896"/>
          </a:xfrm>
          <a:prstGeom prst="rightArrow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2862072"/>
            <a:ext cx="7253935" cy="658368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862072"/>
            <a:ext cx="6705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Ali, B.A, Year 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30752"/>
            <a:ext cx="2377440" cy="658368"/>
          </a:xfrm>
          <a:prstGeom prst="roundRect">
            <a:avLst>
              <a:gd name="adj" fmla="val 12500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307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R-311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337560" y="3904488"/>
            <a:ext cx="640080" cy="310896"/>
          </a:xfrm>
          <a:prstGeom prst="rightArrow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3730752"/>
            <a:ext cx="7253935" cy="658368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0" y="3730752"/>
            <a:ext cx="6705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Ayesha, B.Sc, Year 3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5272888" cy="1371600"/>
          </a:xfrm>
          <a:prstGeom prst="roundRect">
            <a:avLst>
              <a:gd name="adj" fmla="val 6667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" y="5120640"/>
            <a:ext cx="457200" cy="45720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507492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must be unique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" y="5486400"/>
            <a:ext cx="468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second entry under R-104 and the old one is replaced, not added.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78728" y="4892040"/>
            <a:ext cx="5272888" cy="1371600"/>
          </a:xfrm>
          <a:prstGeom prst="roundRect">
            <a:avLst>
              <a:gd name="adj" fmla="val 6667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71336" y="5120640"/>
            <a:ext cx="457200" cy="457200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71336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93128" y="507492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can be anything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571336" y="5486400"/>
            <a:ext cx="468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number, a name, a whole record, a photo — the map does not care what is inside.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hash map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IN, SHELF NUMBER OUT, VALUE FOUND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331720" cy="2514600"/>
          </a:xfrm>
          <a:prstGeom prst="roundRect">
            <a:avLst>
              <a:gd name="adj" fmla="val 3922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9908" y="1920240"/>
            <a:ext cx="512064" cy="512064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49908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62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"123-4567"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401568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search with.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2788920"/>
            <a:ext cx="345338" cy="329184"/>
          </a:xfrm>
          <a:prstGeom prst="rightArrow">
            <a:avLst/>
          </a:prstGeom>
          <a:solidFill>
            <a:srgbClr val="C6D3DA"/>
          </a:solidFill>
          <a:ln w="12700">
            <a:solidFill>
              <a:srgbClr val="C6D3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0018" y="1691640"/>
            <a:ext cx="2331720" cy="2514600"/>
          </a:xfrm>
          <a:prstGeom prst="roundRect">
            <a:avLst>
              <a:gd name="adj" fmla="val 3922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09846" y="1920240"/>
            <a:ext cx="512064" cy="512064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09846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37178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hash function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37178" y="2962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fixed rule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56050" y="3401568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it into a number.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23178" y="2788920"/>
            <a:ext cx="345338" cy="329184"/>
          </a:xfrm>
          <a:prstGeom prst="rightArrow">
            <a:avLst/>
          </a:prstGeom>
          <a:solidFill>
            <a:srgbClr val="C6D3DA"/>
          </a:solidFill>
          <a:ln w="12700">
            <a:solidFill>
              <a:srgbClr val="C6D3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9957" y="1691640"/>
            <a:ext cx="2331720" cy="2514600"/>
          </a:xfrm>
          <a:prstGeom prst="roundRect">
            <a:avLst>
              <a:gd name="adj" fmla="val 3922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69785" y="1920240"/>
            <a:ext cx="512064" cy="512064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785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97117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bucket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7117" y="2962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drawer 8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15989" y="3401568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shelf out of many.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83117" y="2788920"/>
            <a:ext cx="345338" cy="329184"/>
          </a:xfrm>
          <a:prstGeom prst="rightArrow">
            <a:avLst/>
          </a:prstGeom>
          <a:solidFill>
            <a:srgbClr val="C6D3DA"/>
          </a:solidFill>
          <a:ln w="12700">
            <a:solidFill>
              <a:srgbClr val="C6D3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19895" y="1691640"/>
            <a:ext cx="2331720" cy="2514600"/>
          </a:xfrm>
          <a:prstGeom prst="roundRect">
            <a:avLst>
              <a:gd name="adj" fmla="val 3922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29723" y="1920240"/>
            <a:ext cx="512064" cy="512064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29723" y="19202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357055" y="2578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357055" y="2962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9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"Charlotte"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475927" y="3401568"/>
            <a:ext cx="1819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you wanted.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617720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005840" y="4754880"/>
            <a:ext cx="10180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point: no searching happens.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5193792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converted into an address, and the computer goes straight there. It does not matter whether the map holds 10 entries or 10 million — the same three steps happen.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hash function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function takes a key and always produces the same number for it. That number is the drawer.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in, same number out — every single time.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spread keys evenly across all the drawers.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be quick to calculate, or the speed is lost.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5486400" cy="1691640"/>
          </a:xfrm>
          <a:prstGeom prst="roundRect">
            <a:avLst>
              <a:gd name="adj" fmla="val 5405"/>
            </a:avLst>
          </a:prstGeom>
          <a:solidFill>
            <a:srgbClr val="1B4356"/>
          </a:solidFill>
          <a:ln w="12700">
            <a:solidFill>
              <a:srgbClr val="1B4356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% mean?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9377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remainder after dividing." 28 % 10 = 8, because 28 divided by 10 leaves 8 left over. It keeps the answer inside the range of drawers we actually have.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6276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10 DRAWERS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0" y="2011680"/>
            <a:ext cx="4663440" cy="841248"/>
          </a:xfrm>
          <a:prstGeom prst="roundRect">
            <a:avLst>
              <a:gd name="adj" fmla="val 9783"/>
            </a:avLst>
          </a:prstGeom>
          <a:solidFill>
            <a:srgbClr val="1B4356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3591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123-4567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43416" y="2889504"/>
            <a:ext cx="292608" cy="256032"/>
          </a:xfrm>
          <a:prstGeom prst="downArrow">
            <a:avLst/>
          </a:prstGeom>
          <a:solidFill>
            <a:srgbClr val="2A5B71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3182112"/>
            <a:ext cx="4663440" cy="841248"/>
          </a:xfrm>
          <a:prstGeom prst="roundRect">
            <a:avLst>
              <a:gd name="adj" fmla="val 9783"/>
            </a:avLst>
          </a:prstGeom>
          <a:solidFill>
            <a:srgbClr val="1B4356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32552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digits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5295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1+2+3+4+5+6+7 = 28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043416" y="4059936"/>
            <a:ext cx="292608" cy="256032"/>
          </a:xfrm>
          <a:prstGeom prst="downArrow">
            <a:avLst/>
          </a:prstGeom>
          <a:solidFill>
            <a:srgbClr val="2A5B71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4352544"/>
            <a:ext cx="4663440" cy="841248"/>
          </a:xfrm>
          <a:prstGeom prst="roundRect">
            <a:avLst>
              <a:gd name="adj" fmla="val 9783"/>
            </a:avLst>
          </a:prstGeom>
          <a:solidFill>
            <a:srgbClr val="1B4356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0" y="4425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remainder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7000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28 % 10 = 8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043416" y="5230368"/>
            <a:ext cx="292608" cy="256032"/>
          </a:xfrm>
          <a:prstGeom prst="downArrow">
            <a:avLst/>
          </a:prstGeom>
          <a:solidFill>
            <a:srgbClr val="2A5B71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5522976"/>
            <a:ext cx="4663440" cy="841248"/>
          </a:xfrm>
          <a:prstGeom prst="roundRect">
            <a:avLst>
              <a:gd name="adj" fmla="val 9783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0" y="552297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it in drawer 8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maths behind the drawer number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HASH FUNCTION IS THE SAME TWO-STEP FORMULA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1051560"/>
          </a:xfrm>
          <a:prstGeom prst="roundRect">
            <a:avLst>
              <a:gd name="adj" fmla="val 8696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h(key)   =   f(key)   mod   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70048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f(key) — turns the key into a whole number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368698" y="2670048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— the remainder after dividing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097317" y="2670048"/>
            <a:ext cx="34542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how many buckets exist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272888" cy="205740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3429000"/>
            <a:ext cx="4632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method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58768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h(k) = k mod 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297680"/>
            <a:ext cx="463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number is divided by the bucket count and the remainder is the bucket. One operation, so it is very fast.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956048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5F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1234, m = 11    1234 mod 11 = 2    bucket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8728" y="3246120"/>
            <a:ext cx="5272888" cy="2057400"/>
          </a:xfrm>
          <a:prstGeom prst="roundRect">
            <a:avLst>
              <a:gd name="adj" fmla="val 4444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557784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557784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 is usually a prime number: with m = 10, every key ending in 0 lands in bucket 0. A prime breaks up patterns like that.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words into numbers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KEYS ARE RARELY NUMBERS ALREADY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the characters, then the remainder.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has a number. They are added up, but each one is first multiplied by a power of a base — 31 is the usual choice — so that the position of a letter changes the result.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5120640" cy="1051560"/>
          </a:xfrm>
          <a:prstGeom prst="roundRect">
            <a:avLst>
              <a:gd name="adj" fmla="val 8696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329184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h("cat") = (c x 31² + a x 31 + t) mod 7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26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powers of 31 are what keep anagrams apart. Without them, "cat" and "act" would add up to the same total and always collide.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4864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0" y="5486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31? It is prime, and a computer can work out 31 x k cheaply as 32 x k minus k.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27632"/>
            <a:ext cx="5242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THROUGH — 7 BUCKETS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5242255" cy="749808"/>
          </a:xfrm>
          <a:prstGeom prst="roundRect">
            <a:avLst>
              <a:gd name="adj" fmla="val 9756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066544"/>
            <a:ext cx="4693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values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322576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3,  a = 1,  t = 20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02472" y="2788920"/>
            <a:ext cx="256032" cy="128016"/>
          </a:xfrm>
          <a:prstGeom prst="downArrow">
            <a:avLst/>
          </a:prstGeom>
          <a:solidFill>
            <a:srgbClr val="C6D3DA"/>
          </a:solidFill>
          <a:ln w="12700">
            <a:solidFill>
              <a:srgbClr val="C6D3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944368"/>
            <a:ext cx="5242255" cy="749808"/>
          </a:xfrm>
          <a:prstGeom prst="roundRect">
            <a:avLst>
              <a:gd name="adj" fmla="val 9756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999232"/>
            <a:ext cx="4693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powers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255264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x 961 + 1 x 31 + 20 = 2,934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802472" y="3721608"/>
            <a:ext cx="256032" cy="128016"/>
          </a:xfrm>
          <a:prstGeom prst="downArrow">
            <a:avLst/>
          </a:prstGeom>
          <a:solidFill>
            <a:srgbClr val="C6D3DA"/>
          </a:solidFill>
          <a:ln w="12700">
            <a:solidFill>
              <a:srgbClr val="C6D3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3877056"/>
            <a:ext cx="5242255" cy="749808"/>
          </a:xfrm>
          <a:prstGeom prst="roundRect">
            <a:avLst>
              <a:gd name="adj" fmla="val 9756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931920"/>
            <a:ext cx="4693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remainder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187952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2,934 mod 7 = 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09360" y="4828032"/>
            <a:ext cx="5242255" cy="658368"/>
          </a:xfrm>
          <a:prstGeom prst="roundRect">
            <a:avLst>
              <a:gd name="adj" fmla="val 11111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4828032"/>
            <a:ext cx="4693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"cat" goes into bucket 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623560"/>
            <a:ext cx="5242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"act" gives 1,074, and 1,074 mod 7 = 3 — a different bucket entirely.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which drawer?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NO COMPUTER NEEDED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11535" cy="960120"/>
          </a:xfrm>
          <a:prstGeom prst="roundRect">
            <a:avLst>
              <a:gd name="adj" fmla="val 9524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627632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 add the alphabet position of each letter (A = 1, B = 2 … Z = 26), then take the remainder after dividing by 5.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54298" cy="1965960"/>
          </a:xfrm>
          <a:prstGeom prst="roundRect">
            <a:avLst>
              <a:gd name="adj" fmla="val 465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9718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+ 1 + 20 = 24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7764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24 % 5 = 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0740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 you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68698" y="2788920"/>
            <a:ext cx="345429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8698" y="2788920"/>
            <a:ext cx="345429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9D8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43018" y="29718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643018" y="356616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+ 15 + 7 = 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643018" y="397764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9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% 5 = ?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643018" y="440740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7317" y="2788920"/>
            <a:ext cx="345429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97317" y="2788920"/>
            <a:ext cx="345429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C9D8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71637" y="29718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BEE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371637" y="3566160"/>
            <a:ext cx="2905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+ 5 + 5 = ?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71637" y="3977640"/>
            <a:ext cx="29056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9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% 5 = 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71637" y="4407408"/>
            <a:ext cx="29056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DRAWERS TO CHOOSE FROM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3035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5303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76272" y="53035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76272" y="5303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12464" y="53035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12464" y="5303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48656" y="53035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48656" y="5303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84848" y="53035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84848" y="5303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CAT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549640" y="54406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nobody had to look inside any other drawer to place CAT.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hash table itself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MACHINERY UNDERNEATH THE MAP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table is a plain array of m slots. The hash map is the view you use — keys and values. The hash table is how those entries are actually stored.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7889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 together with its value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65576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4655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4655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the key produces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142232"/>
            <a:ext cx="1600200" cy="548640"/>
          </a:xfrm>
          <a:prstGeom prst="roundRect">
            <a:avLst>
              <a:gd name="adj" fmla="val 10000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1422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4142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slot of the array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627632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ARRAY, m = 7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01168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01168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93408" y="2011680"/>
            <a:ext cx="4858207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2011680"/>
            <a:ext cx="4465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2523744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0" y="252374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93408" y="2523744"/>
            <a:ext cx="4858207" cy="420624"/>
          </a:xfrm>
          <a:prstGeom prst="roundRect">
            <a:avLst>
              <a:gd name="adj" fmla="val 1304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2523744"/>
            <a:ext cx="4465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 -&gt;  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3035808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0" y="3035808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93408" y="3035808"/>
            <a:ext cx="4858207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3035808"/>
            <a:ext cx="4465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35040" y="3547872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0" y="3547872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93408" y="3547872"/>
            <a:ext cx="4858207" cy="420624"/>
          </a:xfrm>
          <a:prstGeom prst="roundRect">
            <a:avLst>
              <a:gd name="adj" fmla="val 1304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3547872"/>
            <a:ext cx="4465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 -&gt;  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35040" y="4059936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0" y="4059936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693408" y="4059936"/>
            <a:ext cx="4858207" cy="420624"/>
          </a:xfrm>
          <a:prstGeom prst="roundRect">
            <a:avLst>
              <a:gd name="adj" fmla="val 1304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4059936"/>
            <a:ext cx="4465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 -&gt;  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35040" y="4572000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0" y="4572000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93408" y="4572000"/>
            <a:ext cx="4858207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4572000"/>
            <a:ext cx="4465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35040" y="5084064"/>
            <a:ext cx="566928" cy="420624"/>
          </a:xfrm>
          <a:prstGeom prst="roundRect">
            <a:avLst>
              <a:gd name="adj" fmla="val 13043"/>
            </a:avLst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35040" y="5084064"/>
            <a:ext cx="566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693408" y="5084064"/>
            <a:ext cx="4858207" cy="420624"/>
          </a:xfrm>
          <a:prstGeom prst="roundRect">
            <a:avLst>
              <a:gd name="adj" fmla="val 1304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03720" y="5084064"/>
            <a:ext cx="446501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  -&gt;  1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5806440"/>
            <a:ext cx="10911535" cy="685800"/>
          </a:xfrm>
          <a:prstGeom prst="roundRect">
            <a:avLst>
              <a:gd name="adj" fmla="val 13333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1005840" y="580644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dict, Java's HashMap and JavaScript's Map are all hash tables underneath.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things you can 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ALL FOUR USE THE SAME TRICK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72888" cy="1691640"/>
          </a:xfrm>
          <a:prstGeom prst="roundRect">
            <a:avLst>
              <a:gd name="adj" fmla="val 5405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29968"/>
            <a:ext cx="658368" cy="658368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029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993392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423160"/>
            <a:ext cx="376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a key and a value. The rule picks the drawer; the entry goes in.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45920"/>
            <a:ext cx="5272888" cy="1691640"/>
          </a:xfrm>
          <a:prstGeom prst="roundRect">
            <a:avLst>
              <a:gd name="adj" fmla="val 5405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98768" y="2029968"/>
            <a:ext cx="658368" cy="658368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98768" y="20299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67448" y="1993392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up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467448" y="2423160"/>
            <a:ext cx="376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the key only. The rule picks the same drawer; the value comes back.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5272888" cy="1691640"/>
          </a:xfrm>
          <a:prstGeom prst="roundRect">
            <a:avLst>
              <a:gd name="adj" fmla="val 5405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3904488"/>
            <a:ext cx="658368" cy="658368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904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867912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297680"/>
            <a:ext cx="376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key, new value. The old value is replaced, because keys are unique.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8728" y="3520440"/>
            <a:ext cx="5272888" cy="1691640"/>
          </a:xfrm>
          <a:prstGeom prst="roundRect">
            <a:avLst>
              <a:gd name="adj" fmla="val 5405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8768" y="3904488"/>
            <a:ext cx="658368" cy="658368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98768" y="3904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467448" y="3867912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467448" y="4297680"/>
            <a:ext cx="37641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finds the drawer, and the entry is taken out of it.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548640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look up, update, remove — each one is "calculate the drawer, then act". That is why they are all equally fast.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lookup is close to O(1)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CLAIM, IN PLAIN ENGLISH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 means constant time.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does not grow as the collection grows. Ten entries or ten million, you still calculate one number and open one drawer.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 means it grows with the pile.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cards one by one takes twice as long when you have twice as many cards.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461772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"Close to" O(1), not exactly O(1) — because collisions add a little extra work. More on that next.</a:t>
            </a:r>
            <a:endParaRPr lang="en-US" sz="13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074920" y="1600200"/>
          <a:ext cx="64922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Collisions: two keys, one drawer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EXPECTED, AND HANDLED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926080" cy="777240"/>
          </a:xfrm>
          <a:prstGeom prst="roundRect">
            <a:avLst>
              <a:gd name="adj" fmla="val 10588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123-4567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add up to 28  -&gt;  28 % 10 = 8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2926080" cy="777240"/>
          </a:xfrm>
          <a:prstGeom prst="roundRect">
            <a:avLst>
              <a:gd name="adj" fmla="val 10588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91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123-4657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add up to 28  -&gt;  28 % 10 = 8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94760" y="2395728"/>
            <a:ext cx="1005840" cy="365760"/>
          </a:xfrm>
          <a:prstGeom prst="rightArrow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3493008"/>
            <a:ext cx="1005840" cy="365760"/>
          </a:xfrm>
          <a:prstGeom prst="rightArrow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828800"/>
            <a:ext cx="2286000" cy="2240280"/>
          </a:xfrm>
          <a:prstGeom prst="roundRect">
            <a:avLst>
              <a:gd name="adj" fmla="val 4082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Drawer 8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514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6B4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cards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6B4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1737360"/>
            <a:ext cx="3962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keys can produce the same number.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651760"/>
            <a:ext cx="39620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same digits in a different order add up to the same total.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always more possible keys than drawers, so this is unavoidable.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still works — it just has to look inside that one drawer.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7143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846320"/>
            <a:ext cx="10180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collision is not an error. It is a crowded drawer — and a crowded drawer is only slow if it gets very crowded.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 technique 1: separate chaining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BUCKET HOLD A LIST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9D8DE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2121408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2140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123-4567  -&gt;  Charlotte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670048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67004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123-4657  -&gt;  Ali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218688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21868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82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127-3547  -&gt;  Fatima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69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bucket does not hold one entry — it holds a short list. Arrive at the bucket, then glance through the two or three entries inside.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runs out of room  ·  deleting is simple  ·  needs extra memory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331720"/>
            <a:ext cx="4510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factor  α  =  n ÷ m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309360" y="5029200"/>
            <a:ext cx="5242255" cy="1188720"/>
          </a:xfrm>
          <a:prstGeom prst="roundRect">
            <a:avLst>
              <a:gd name="adj" fmla="val 7692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0" y="2624328"/>
            <a:ext cx="46021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every key lands in one bucket, the list has n entries, and a lookup costs O(n).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 technique 2: open addressing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LISTS — WALK ALONG TO A FREE BUCKET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 lives inside the array itself. If the bucket the hash picked is taken, a fixed rule decides which bucket to try next — and the same rule is replayed when searching.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393338" cy="237744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51760"/>
            <a:ext cx="475488" cy="475488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probing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39312"/>
            <a:ext cx="2844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h(k,i) = (h(k) + i) mod 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41648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next bucket, then the next. Easy and fast to scan, but entries pile up into long runs — called primary clustering.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99178" y="2423160"/>
            <a:ext cx="3393338" cy="237744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3498" y="2651760"/>
            <a:ext cx="475488" cy="475488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73498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73498" y="32461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Quadratic probing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73498" y="3639312"/>
            <a:ext cx="2844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h(k,i) = (h(k) + i²) mod 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73498" y="4041648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jumps grow: 1, 4, 9, 16. That breaks up long runs, though two keys with the same starting bucket still follow the same path.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58277" y="2423160"/>
            <a:ext cx="3393338" cy="2377440"/>
          </a:xfrm>
          <a:prstGeom prst="roundRect">
            <a:avLst>
              <a:gd name="adj" fmla="val 3846"/>
            </a:avLst>
          </a:prstGeom>
          <a:solidFill>
            <a:srgbClr val="EDF2F4"/>
          </a:solidFill>
          <a:ln w="12700">
            <a:solidFill>
              <a:srgbClr val="EDF2F4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2597" y="2651760"/>
            <a:ext cx="475488" cy="475488"/>
          </a:xfrm>
          <a:prstGeom prst="ellipse">
            <a:avLst/>
          </a:prstGeom>
          <a:solidFill>
            <a:srgbClr val="1E5F74"/>
          </a:solidFill>
          <a:ln w="12700">
            <a:solidFill>
              <a:srgbClr val="1E5F7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2597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32597" y="324612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hashing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32597" y="3639312"/>
            <a:ext cx="28446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h(k,i) = (h1(k) + i x h2(k)) mod 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32597" y="4041648"/>
            <a:ext cx="2844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hash function sets the step size, so every key walks its own route. The best spread of the three.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it fast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THAT PROTECT THE SPEED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93338" cy="2514600"/>
          </a:xfrm>
          <a:prstGeom prst="roundRect">
            <a:avLst>
              <a:gd name="adj" fmla="val 3636"/>
            </a:avLst>
          </a:prstGeom>
          <a:solidFill>
            <a:srgbClr val="1B4356"/>
          </a:solidFill>
          <a:ln w="12700">
            <a:solidFill>
              <a:srgbClr val="1B4356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70048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keys evenly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hash function uses every drawer roughly equally. A lazy one dumps everything into a few.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9178" y="1691640"/>
            <a:ext cx="3393338" cy="2514600"/>
          </a:xfrm>
          <a:prstGeom prst="roundRect">
            <a:avLst>
              <a:gd name="adj" fmla="val 3636"/>
            </a:avLst>
          </a:prstGeom>
          <a:solidFill>
            <a:srgbClr val="1B4356"/>
          </a:solidFill>
          <a:ln w="12700">
            <a:solidFill>
              <a:srgbClr val="1B4356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9218" y="1965960"/>
            <a:ext cx="548640" cy="548640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921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19218" y="2670048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enough drawers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19218" y="315468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as many drawers as entries. Far more wastes space; far fewer wastes time.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58277" y="1691640"/>
            <a:ext cx="3393338" cy="2514600"/>
          </a:xfrm>
          <a:prstGeom prst="roundRect">
            <a:avLst>
              <a:gd name="adj" fmla="val 3636"/>
            </a:avLst>
          </a:prstGeom>
          <a:solidFill>
            <a:srgbClr val="1B4356"/>
          </a:solidFill>
          <a:ln w="12700">
            <a:solidFill>
              <a:srgbClr val="1B4356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8317" y="1965960"/>
            <a:ext cx="548640" cy="548640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78317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78317" y="2670048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when crowded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78317" y="3154680"/>
            <a:ext cx="2753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map fills up, it quietly builds a bigger set of drawers and redistributes everything.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72000"/>
            <a:ext cx="10911535" cy="1554480"/>
          </a:xfrm>
          <a:prstGeom prst="roundRect">
            <a:avLst>
              <a:gd name="adj" fmla="val 5882"/>
            </a:avLst>
          </a:prstGeom>
          <a:solidFill>
            <a:srgbClr val="1B4356"/>
          </a:solidFill>
          <a:ln w="12700">
            <a:solidFill>
              <a:srgbClr val="1B4356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937760"/>
            <a:ext cx="640080" cy="640080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800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worst case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5230368"/>
            <a:ext cx="93570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key lands in the same drawer, you are back to checking cards one by one — O(n), no better than the box of cards we started with. Good hash functions exist precisely to prevent this.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Hands-on: counting words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THROUGH THE PARAGRAPH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911535" cy="822960"/>
          </a:xfrm>
          <a:prstGeom prst="roundRect">
            <a:avLst>
              <a:gd name="adj" fmla="val 11111"/>
            </a:avLst>
          </a:prstGeom>
          <a:solidFill>
            <a:srgbClr val="12303F"/>
          </a:solidFill>
          <a:ln w="12700">
            <a:solidFill>
              <a:srgbClr val="12303F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627632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cat sat on the mat the cat was happy"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5F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420624" cy="420624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315468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word at a time, left to right.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813048"/>
            <a:ext cx="420624" cy="420624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3813048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itself as the key.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420624" cy="420624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471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471416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word? Start its count at 1.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29784"/>
            <a:ext cx="420624" cy="420624"/>
          </a:xfrm>
          <a:prstGeom prst="ellipse">
            <a:avLst/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129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5129784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it before? Add 1 to its count.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paragraph is read once. Each word is looked up instantly — no re-scanning.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651760"/>
            <a:ext cx="5608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MAP AS IT FILLS UP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0" y="3063240"/>
            <a:ext cx="2666848" cy="493776"/>
          </a:xfrm>
          <a:prstGeom prst="roundRect">
            <a:avLst>
              <a:gd name="adj" fmla="val 12963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3063240"/>
            <a:ext cx="175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33208" y="306324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884768" y="3063240"/>
            <a:ext cx="2666848" cy="493776"/>
          </a:xfrm>
          <a:prstGeom prst="roundRect">
            <a:avLst>
              <a:gd name="adj" fmla="val 12963"/>
            </a:avLst>
          </a:prstGeom>
          <a:solidFill>
            <a:srgbClr val="D98C2B"/>
          </a:solidFill>
          <a:ln w="12700">
            <a:solidFill>
              <a:srgbClr val="D98C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13368" y="3063240"/>
            <a:ext cx="175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306324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943600" y="3666744"/>
            <a:ext cx="2666848" cy="493776"/>
          </a:xfrm>
          <a:prstGeom prst="roundRect">
            <a:avLst>
              <a:gd name="adj" fmla="val 1296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3666744"/>
            <a:ext cx="175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833208" y="366674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884768" y="3666744"/>
            <a:ext cx="2666848" cy="493776"/>
          </a:xfrm>
          <a:prstGeom prst="roundRect">
            <a:avLst>
              <a:gd name="adj" fmla="val 1296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13368" y="3666744"/>
            <a:ext cx="175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774375" y="366674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5943600" y="4270248"/>
            <a:ext cx="2666848" cy="493776"/>
          </a:xfrm>
          <a:prstGeom prst="roundRect">
            <a:avLst>
              <a:gd name="adj" fmla="val 1296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4270248"/>
            <a:ext cx="175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833208" y="427024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8884768" y="4270248"/>
            <a:ext cx="2666848" cy="493776"/>
          </a:xfrm>
          <a:prstGeom prst="roundRect">
            <a:avLst>
              <a:gd name="adj" fmla="val 1296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13368" y="4270248"/>
            <a:ext cx="175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774375" y="427024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5943600" y="4873752"/>
            <a:ext cx="2666848" cy="493776"/>
          </a:xfrm>
          <a:prstGeom prst="roundRect">
            <a:avLst>
              <a:gd name="adj" fmla="val 12963"/>
            </a:avLst>
          </a:prstGeom>
          <a:solidFill>
            <a:srgbClr val="EDF2F4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72200" y="4873752"/>
            <a:ext cx="175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happy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833208" y="487375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0" y="5486400"/>
            <a:ext cx="5608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the word.  Value = how many times it has appeared.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3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away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93338" cy="2148840"/>
          </a:xfrm>
          <a:prstGeom prst="roundRect">
            <a:avLst>
              <a:gd name="adj" fmla="val 4255"/>
            </a:avLst>
          </a:prstGeom>
          <a:solidFill>
            <a:srgbClr val="1B4356"/>
          </a:solidFill>
          <a:ln w="12700">
            <a:solidFill>
              <a:srgbClr val="1B4356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and value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27532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the label you search with; the value is the information you wanted.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9178" y="1691640"/>
            <a:ext cx="3393338" cy="2148840"/>
          </a:xfrm>
          <a:prstGeom prst="roundRect">
            <a:avLst>
              <a:gd name="adj" fmla="val 4255"/>
            </a:avLst>
          </a:prstGeom>
          <a:solidFill>
            <a:srgbClr val="1B4356"/>
          </a:solidFill>
          <a:ln w="12700">
            <a:solidFill>
              <a:srgbClr val="1B4356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19218" y="1920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hash function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719218" y="2468880"/>
            <a:ext cx="27532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rule turns the key into a drawer number, so nothing has to be searched.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8277" y="1691640"/>
            <a:ext cx="3393338" cy="2148840"/>
          </a:xfrm>
          <a:prstGeom prst="roundRect">
            <a:avLst>
              <a:gd name="adj" fmla="val 4255"/>
            </a:avLst>
          </a:prstGeom>
          <a:solidFill>
            <a:srgbClr val="1B4356"/>
          </a:solidFill>
          <a:ln w="12700">
            <a:solidFill>
              <a:srgbClr val="1B4356"/>
            </a:solidFill>
            <a:prstDash val="solid"/>
          </a:ln>
          <a:effectLst>
            <a:outerShdw blurRad="101600" dist="25400" dir="5400000" algn="bl" rotWithShape="0">
              <a:srgbClr val="0B1D26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78317" y="1920240"/>
            <a:ext cx="2753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to O(1)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478317" y="2468880"/>
            <a:ext cx="27532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effort stays the same as the collection grows — collisions are the only tax.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ALREADY USE ONE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498848"/>
            <a:ext cx="1999427" cy="685800"/>
          </a:xfrm>
          <a:prstGeom prst="roundRect">
            <a:avLst>
              <a:gd name="adj" fmla="val 12000"/>
            </a:avLst>
          </a:prstGeom>
          <a:solidFill>
            <a:srgbClr val="1B4356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498848"/>
            <a:ext cx="18165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contacts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68107" y="4498848"/>
            <a:ext cx="1999427" cy="685800"/>
          </a:xfrm>
          <a:prstGeom prst="roundRect">
            <a:avLst>
              <a:gd name="adj" fmla="val 12000"/>
            </a:avLst>
          </a:prstGeom>
          <a:solidFill>
            <a:srgbClr val="1B4356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59547" y="4498848"/>
            <a:ext cx="18165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logins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96134" y="4498848"/>
            <a:ext cx="1999427" cy="685800"/>
          </a:xfrm>
          <a:prstGeom prst="roundRect">
            <a:avLst>
              <a:gd name="adj" fmla="val 12000"/>
            </a:avLst>
          </a:prstGeom>
          <a:solidFill>
            <a:srgbClr val="1B4356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87574" y="4498848"/>
            <a:ext cx="18165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Spell-checkers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24161" y="4498848"/>
            <a:ext cx="1999427" cy="685800"/>
          </a:xfrm>
          <a:prstGeom prst="roundRect">
            <a:avLst>
              <a:gd name="adj" fmla="val 12000"/>
            </a:avLst>
          </a:prstGeom>
          <a:solidFill>
            <a:srgbClr val="1B4356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15601" y="4498848"/>
            <a:ext cx="18165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indexes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552188" y="4498848"/>
            <a:ext cx="1999427" cy="685800"/>
          </a:xfrm>
          <a:prstGeom prst="roundRect">
            <a:avLst>
              <a:gd name="adj" fmla="val 12000"/>
            </a:avLst>
          </a:prstGeom>
          <a:solidFill>
            <a:srgbClr val="1B4356"/>
          </a:solidFill>
          <a:ln w="12700">
            <a:solidFill>
              <a:srgbClr val="2A5B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43628" y="4498848"/>
            <a:ext cx="181654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4924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 use a card catalogue, you already understand a hash map.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3047</Words>
  <Application>Microsoft Office PowerPoint</Application>
  <PresentationFormat>Widescreen</PresentationFormat>
  <Paragraphs>344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 Maps: Instant Lookup</dc:title>
  <dc:subject>PptxGenJS Presentation</dc:subject>
  <dc:creator>Hash Maps Teaching Deck</dc:creator>
  <cp:lastModifiedBy>AREEBA</cp:lastModifiedBy>
  <cp:revision>3</cp:revision>
  <dcterms:created xsi:type="dcterms:W3CDTF">2026-09-17T14:19:26Z</dcterms:created>
  <dcterms:modified xsi:type="dcterms:W3CDTF">2026-09-17T14:36:32Z</dcterms:modified>
</cp:coreProperties>
</file>