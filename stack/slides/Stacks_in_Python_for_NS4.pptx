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62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35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4" y="8164"/>
            <a:ext cx="12188952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FOR NATURAL SCIENCE STUDENTS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77240" y="22860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Stacks in Python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4290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pop, peek and why a Last-In, First-Out 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6" name="Image 0" descr="/tmp/claude-0/-home-claude/7f8f6e4a-86c7-53b9-9a7f-6041f5eb2c07/scratchpad/stacks_deck/icons/flask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4748479"/>
            <a:ext cx="241402" cy="24140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463040" y="4617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objectives · class activity · Python implementation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lesson, you will be able to:</a:t>
            </a:r>
            <a:endParaRPr 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77240" cy="7772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pic>
        <p:nvPicPr>
          <p:cNvPr id="5" name="Image 0" descr="/tmp/claude-0/-home-claude/7f8f6e4a-86c7-53b9-9a7f-6041f5eb2c07/scratchpad/stacks_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20308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830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LIFO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176272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a stack stores data Last-In, First-Out, and why Python programs reach for one.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566160"/>
            <a:ext cx="777240" cy="777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pic>
        <p:nvPicPr>
          <p:cNvPr id="9" name="Image 1" descr="/tmp/claude-0/-home-claude/7f8f6e4a-86c7-53b9-9a7f-6041f5eb2c07/scratchpad/stacks_deck/icons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" y="3768242"/>
            <a:ext cx="373075" cy="37307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35204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 a stack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913632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push, pop, and peek by hand and in code – and recognize overflow and underflow.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5303520"/>
            <a:ext cx="777240" cy="7772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pic>
        <p:nvPicPr>
          <p:cNvPr id="13" name="Image 2" descr="/tmp/claude-0/-home-claude/7f8f6e4a-86c7-53b9-9a7f-6041f5eb2c07/scratchpad/stacks_deck/icons/window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" y="5505602"/>
            <a:ext cx="373075" cy="37307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52578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hidden stacks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5659156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stacks at work inside everyday software: undo history, browser back, and function calls.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stack?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43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is a collection where items are only added or removed from one end - the </a:t>
            </a:r>
            <a:r>
              <a:rPr lang="en-US" sz="15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r>
              <a:rPr lang="en-US" sz="15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22720" y="1545499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LIFO – Last In, First Out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A453BCF-38ED-01A7-4A02-CCA9DC9A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08640"/>
            <a:ext cx="5608320" cy="28405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3310080-5198-AD63-1ED9-2CE889CD6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982" y="2077823"/>
            <a:ext cx="5425058" cy="39534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and pop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AF2E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5B8C51"/>
          </a:solidFill>
          <a:ln/>
        </p:spPr>
      </p:sp>
      <p:pic>
        <p:nvPicPr>
          <p:cNvPr id="6" name="Image 0" descr="/tmp/claude-0/-home-claude/7f8f6e4a-86c7-53b9-9a7f-6041f5eb2c07/scratchpad/stacks_deck/icons/arrow_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new item onto the top of the stack.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AF2E6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1874520"/>
            <a:ext cx="594360" cy="594360"/>
          </a:xfrm>
          <a:prstGeom prst="ellipse">
            <a:avLst/>
          </a:prstGeom>
          <a:solidFill>
            <a:srgbClr val="C97A1E"/>
          </a:solidFill>
          <a:ln/>
        </p:spPr>
      </p:sp>
      <p:pic>
        <p:nvPicPr>
          <p:cNvPr id="12" name="Image 1" descr="/tmp/claude-0/-home-claude/7f8f6e4a-86c7-53b9-9a7f-6041f5eb2c07/scratchpad/stacks_deck/icons/arrow_dow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774" y="20290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and returns the item currently on top.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push(D)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2960" y="5742432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32688" y="57424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22960" y="515721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932688" y="5157216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22960" y="45720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C97A1E"/>
          </a:solidFill>
          <a:ln/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932688" y="45720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2761488" y="4572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top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356616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push(D)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566160" y="632764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3675888" y="632764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566160" y="5742432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3675888" y="57424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566160" y="515721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3675888" y="5157216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566160" y="45720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C97A1E"/>
          </a:solidFill>
          <a:ln/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3675888" y="45720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5504688" y="4572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top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94944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pop() → returns D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949440" y="5742432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7059168" y="57424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949440" y="515721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7059168" y="5157216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6949440" y="45720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C97A1E"/>
          </a:solidFill>
          <a:ln/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6"/>
          <p:cNvSpPr txBox="1"/>
          <p:nvPr/>
        </p:nvSpPr>
        <p:spPr>
          <a:xfrm>
            <a:off x="7059168" y="45720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8887968" y="4572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top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CORE OPERATIONS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Peek, isEmpty, and size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pic>
        <p:nvPicPr>
          <p:cNvPr id="5" name="Image 0" descr="/tmp/claude-0/-home-claude/7f8f6e4a-86c7-53b9-9a7f-6041f5eb2c07/scratchpad/stacks_deck/icons/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73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Peek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0299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the top item without removing it — useful when you need to check what's next before deciding whether to act on it.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pic>
        <p:nvPicPr>
          <p:cNvPr id="9" name="Image 1" descr="/tmp/claude-0/-home-claude/7f8f6e4a-86c7-53b9-9a7f-6041f5eb2c07/scratchpad/stacks_deck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31839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999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isEmpty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3558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the stack holds no items. Always check this before popping, to avoid an error.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pic>
        <p:nvPicPr>
          <p:cNvPr id="13" name="Image 2" descr="/tmp/claude-0/-home-claude/7f8f6e4a-86c7-53b9-9a7f-6041f5eb2c07/scratchpad/stacks_deck/icons/lis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450982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4325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68172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number of items currently on the stack — e.g., how many unsaved edits are waiting to be undone.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903720" y="1691640"/>
            <a:ext cx="4754880" cy="3566160"/>
          </a:xfrm>
          <a:prstGeom prst="roundRect">
            <a:avLst>
              <a:gd name="adj" fmla="val 2051"/>
            </a:avLst>
          </a:prstGeom>
          <a:solidFill>
            <a:srgbClr val="1E2B1C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132320" y="187452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F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= []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stack.append(x)   # push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stack.pop()       # pop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stack[-1]         # peek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len(stack) == 0   # isEmpty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len(stack)        # size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90372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Python list already behaves like a stack.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CONDITIONS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Overflow and underflow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EAF2E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C97A1E"/>
          </a:solidFill>
          <a:ln/>
        </p:spPr>
      </p:sp>
      <p:pic>
        <p:nvPicPr>
          <p:cNvPr id="6" name="Image 0" descr="/tmp/claude-0/-home-claude/7f8f6e4a-86c7-53b9-9a7f-6041f5eb2c07/scratchpad/stacks_deck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20747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Overflow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when you push onto a stack that has a fixed capacity and is already full.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337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25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slot in a sample rack is filled — there is no room to set down the next tube.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64592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EAF2E6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92024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/tmp/claude-0/-home-claude/7f8f6e4a-86c7-53b9-9a7f-6041f5eb2c07/scratchpad/stacks_deck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494" y="20747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Underflow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2606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when you pop (or peek) an empty stack — there is nothing left to remove.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3337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25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for the top tube when the rack is already empty.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a list-based stack grows automatically, so true overflow is rare. Underflow is the one to guard against — always call </a:t>
            </a:r>
            <a:r>
              <a:rPr lang="en-US" sz="14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isEmpty()</a:t>
            </a:r>
            <a:r>
              <a:rPr lang="en-US" sz="14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</a:t>
            </a:r>
            <a:r>
              <a:rPr lang="en-US" sz="14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r>
              <a:rPr lang="en-US" sz="14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STACKS HIDE #1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 history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solidFill>
            <a:srgbClr val="5B8C51"/>
          </a:solidFill>
          <a:ln/>
        </p:spPr>
      </p:sp>
      <p:pic>
        <p:nvPicPr>
          <p:cNvPr id="5" name="Image 0" descr="/tmp/claude-0/-home-claude/7f8f6e4a-86c7-53b9-9a7f-6041f5eb2c07/scratchpad/stacks_deck/icons/und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1951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432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notebooks and analysis tools (electronic lab notebooks, Jupyter, ImageJ) push every edit you make onto a stack. Press Undo, and the software simply pops the most recent action off — restoring the state just before it.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29768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EAF2E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434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</a:t>
            </a:r>
            <a:r>
              <a:rPr lang="en-US" sz="1300" i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crop an image, adjust its brightness, then annotate a feature. Pressing Ctrl+Z three times pops each action in reverse — annotation, then brightness, then crop.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63840" y="3364992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97BC6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973568" y="3364992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Cropped image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2551176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97BC6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73568" y="2551176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Adjusted brightness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63840" y="173736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C97A1E"/>
          </a:solidFill>
          <a:ln/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973568" y="173736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Added annotation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082528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top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STACKS HIDE #2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back button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solidFill>
            <a:srgbClr val="C97A1E"/>
          </a:solidFill>
          <a:ln/>
        </p:spPr>
      </p:sp>
      <p:pic>
        <p:nvPicPr>
          <p:cNvPr id="5" name="Image 0" descr="/tmp/claude-0/-home-claude/7f8f6e4a-86c7-53b9-9a7f-6041f5eb2c07/scratchpad/stacks_deck/icons/wind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1951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432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you visit is pushed onto your browser's history stack. Clicking Back pops the most recent page off the stack and returns you to the one before it — in exact reverse order.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29768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EAF2E6"/>
          </a:solidFill>
          <a:ln/>
        </p:spPr>
      </p:sp>
      <p:sp>
        <p:nvSpPr>
          <p:cNvPr id="9" name="Shape 6"/>
          <p:cNvSpPr/>
          <p:nvPr/>
        </p:nvSpPr>
        <p:spPr>
          <a:xfrm>
            <a:off x="7863840" y="3364992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97BC6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973568" y="3364992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Search results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2551176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97BC6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73568" y="2551176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 record page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63840" y="173736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C97A1E"/>
          </a:solidFill>
          <a:ln/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973568" y="173736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Cited paper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082528" y="1737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top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stack, drawn as an array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Underneath, a stack is just a Python list. Each box below is one element of the array — the top of the stack is always the last element, at index len(arr) - 1.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88720" y="2377440"/>
            <a:ext cx="41148" cy="3749040"/>
          </a:xfrm>
          <a:prstGeom prst="rect">
            <a:avLst/>
          </a:prstGeom>
          <a:solidFill>
            <a:srgbClr val="B9C7B3"/>
          </a:solidFill>
          <a:ln/>
        </p:spPr>
      </p:sp>
      <p:sp>
        <p:nvSpPr>
          <p:cNvPr id="6" name="Shape 4"/>
          <p:cNvSpPr/>
          <p:nvPr/>
        </p:nvSpPr>
        <p:spPr>
          <a:xfrm>
            <a:off x="3525012" y="2377440"/>
            <a:ext cx="41148" cy="3749040"/>
          </a:xfrm>
          <a:prstGeom prst="rect">
            <a:avLst/>
          </a:prstGeom>
          <a:solidFill>
            <a:srgbClr val="B9C7B3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6126480"/>
            <a:ext cx="2651760" cy="41148"/>
          </a:xfrm>
          <a:prstGeom prst="rect">
            <a:avLst/>
          </a:prstGeom>
          <a:solidFill>
            <a:srgbClr val="B9C7B3"/>
          </a:solidFill>
          <a:ln/>
        </p:spPr>
      </p:sp>
      <p:sp>
        <p:nvSpPr>
          <p:cNvPr id="8" name="Shape 6"/>
          <p:cNvSpPr/>
          <p:nvPr/>
        </p:nvSpPr>
        <p:spPr>
          <a:xfrm>
            <a:off x="1229868" y="5486400"/>
            <a:ext cx="2295144" cy="594360"/>
          </a:xfrm>
          <a:prstGeom prst="rect">
            <a:avLst/>
          </a:prstGeom>
          <a:solidFill>
            <a:srgbClr val="E4EBDF"/>
          </a:solidFill>
          <a:ln w="12700">
            <a:solidFill>
              <a:srgbClr val="9DB0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29868" y="548640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54864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arr[0]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29868" y="4846320"/>
            <a:ext cx="2295144" cy="594360"/>
          </a:xfrm>
          <a:prstGeom prst="rect">
            <a:avLst/>
          </a:prstGeom>
          <a:solidFill>
            <a:srgbClr val="E4EBDF"/>
          </a:solidFill>
          <a:ln w="12700">
            <a:solidFill>
              <a:srgbClr val="9DB0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29868" y="484632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'B'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48463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arr[1]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29868" y="4206240"/>
            <a:ext cx="2295144" cy="594360"/>
          </a:xfrm>
          <a:prstGeom prst="rect">
            <a:avLst/>
          </a:prstGeom>
          <a:solidFill>
            <a:srgbClr val="E4EBDF"/>
          </a:solidFill>
          <a:ln w="12700">
            <a:solidFill>
              <a:srgbClr val="9DB0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29868" y="420624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'C'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42062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arr[2]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29868" y="3566160"/>
            <a:ext cx="2295144" cy="594360"/>
          </a:xfrm>
          <a:prstGeom prst="rect">
            <a:avLst/>
          </a:prstGeom>
          <a:solidFill>
            <a:srgbClr val="C97A1E"/>
          </a:solidFill>
          <a:ln w="12700">
            <a:solidFill>
              <a:srgbClr val="9DB0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29868" y="356616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'D'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5661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arr[3]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5661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top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148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map straight onto list methods: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49440" y="260604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5B8C5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49440" y="26060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732520" y="26060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arr.append(item)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49440" y="3374136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5B8C5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49440" y="337413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33741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arr.pop()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49440" y="4142232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5B8C5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49440" y="41422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414223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arr[-1]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49440" y="4910328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5B8C5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49440" y="49103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91032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len(arr) == 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49440" y="5678424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5B8C5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49440" y="567842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732520" y="567842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len(arr)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list is already a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 list has everything a stack needs — no import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53512"/>
            <a:ext cx="109728" cy="109728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880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pushes to the top in O(1)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5021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removes and returns the top item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97096"/>
            <a:ext cx="109728" cy="109728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1239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indexing (stack[-1]) peeks without removing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1E2B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178308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F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readings = []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readings.append(23.4)  # push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readings.append(23.9)  # push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readings.append(24.1)  # push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latest = readings[-1]  # peek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F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print(latest)          # 24.1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readings.pop()         # pop -&gt; 24.1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F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print(readings)        # [23.4, 23.9]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Bracket matching – with cups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" cy="685800"/>
          </a:xfrm>
          <a:prstGeom prst="ellipse">
            <a:avLst/>
          </a:prstGeom>
          <a:solidFill>
            <a:srgbClr val="C97A1E"/>
          </a:solidFill>
          <a:ln/>
        </p:spPr>
      </p:sp>
      <p:pic>
        <p:nvPicPr>
          <p:cNvPr id="5" name="Image 0" descr="/tmp/claude-0/-home-claude/7f8f6e4a-86c7-53b9-9a7f-6041f5eb2c07/scratchpad/stacks_deck/icons/c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18699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373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use a physical stack of cups to check whether an expression's brackets are balanced — the same logic a code compiler uses.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EAF2E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632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of paper cups (or petri dishes / vials)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bracket expression on the board, e.g. ( [ { } ] 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160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5262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C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unbalanced expression ( [ ) ] with the cups. Where does the mismatch get caught? Why does a stack catch it immediately?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2560320"/>
            <a:ext cx="5577840" cy="3566160"/>
          </a:xfrm>
          <a:prstGeom prst="roundRect">
            <a:avLst>
              <a:gd name="adj" fmla="val 2564"/>
            </a:avLst>
          </a:prstGeom>
          <a:solidFill>
            <a:srgbClr val="2C5F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936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09360" y="3108960"/>
            <a:ext cx="365760" cy="365760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093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3063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expression on the board, left to right.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09360" y="3867912"/>
            <a:ext cx="365760" cy="365760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0936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382219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 opening bracket ( [ { ? Write it on a cup and stack the cup on top of the pile.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09360" y="4626864"/>
            <a:ext cx="365760" cy="365760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09360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12280" y="458114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closing bracket ) ] } ? Pop the top cup. If its bracket doesn't match, the expression is unbalanced — stop.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309360" y="5385816"/>
            <a:ext cx="365760" cy="365760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5385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812280" y="534009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the end with an empty stack of cups? The expression is balanced.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a stack with an array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using only a Python list as the underlying array, write your own Stack class with push, pop, peek, and isEmpty.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class must: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push(item) — add item to the top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— remove &amp; return the top item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 — return the top item without removing it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 — return True/False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raise a custom error on pop() from an empty stack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EAF2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0292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it: </a:t>
            </a:r>
            <a:r>
              <a:rPr lang="en-US" sz="1250" i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3 sample readings, peek the top, pop all 3, then confirm isEmpty() is True.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E2B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83080"/>
            <a:ext cx="48920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Stack: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self.items = []   # the array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push(self, item):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TODO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pop(self):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TODO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peek(self):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TODO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isEmpty(self):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TODO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stacks are fast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stack operation only ever touches the top item - it never has to search through what's underneath. That means each one runs in constant time, no matter how much data is stored.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971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37560" y="2743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5B8C5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2971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3886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2743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2971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886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15400" y="2743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5B8C5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15400" y="2971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3886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35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data-logger is recording thousands of sensor readings per run, constant-time operations keep processing snappy as the dataset grows.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Stacks, in one page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28016" cy="128016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7556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LIFO: the last item added is the first one out — like a rack of drill cores.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128016" cy="128016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41401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pop, and peek all touch only the top, so each runs in O(1) time.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28016" cy="128016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07238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 (popping empty) is the error to guard against with isEmpty().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58768"/>
            <a:ext cx="128016" cy="128016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7307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power undo, browser back, and every function call your code makes.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1448288" y="21031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1354</Words>
  <Application>Microsoft Office PowerPoint</Application>
  <PresentationFormat>Widescreen</PresentationFormat>
  <Paragraphs>206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AREEBA</cp:lastModifiedBy>
  <cp:revision>5</cp:revision>
  <dcterms:created xsi:type="dcterms:W3CDTF">2026-09-14T10:03:56Z</dcterms:created>
  <dcterms:modified xsi:type="dcterms:W3CDTF">2026-09-14T14:08:30Z</dcterms:modified>
</cp:coreProperties>
</file>